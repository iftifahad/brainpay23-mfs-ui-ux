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61" r:id="rId5"/>
    <p:sldId id="262" r:id="rId6"/>
    <p:sldId id="263" r:id="rId7"/>
    <p:sldId id="264" r:id="rId8"/>
  </p:sldIdLst>
  <p:sldSz cx="18288000" cy="10287000"/>
  <p:notesSz cx="6858000" cy="9144000"/>
  <p:embeddedFontLst>
    <p:embeddedFont>
      <p:font typeface="DM Sans Bold"/>
      <p:bold r:id="rId12"/>
    </p:embeddedFont>
    <p:embeddedFont>
      <p:font typeface="Montserrat Bold" panose="00000800000000000000"/>
      <p:bold r:id="rId13"/>
    </p:embeddedFont>
    <p:embeddedFont>
      <p:font typeface="DM Sans"/>
      <p:regular r:id="rId14"/>
    </p:embeddedFont>
    <p:embeddedFont>
      <p:font typeface="Calibri" panose="020F050202020403020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01250" y="0"/>
            <a:ext cx="8286750" cy="10287000"/>
          </a:xfrm>
          <a:custGeom>
            <a:avLst/>
            <a:gdLst/>
            <a:ahLst/>
            <a:cxnLst/>
            <a:rect l="l" t="t" r="r" b="b"/>
            <a:pathLst>
              <a:path w="8286750" h="10287000">
                <a:moveTo>
                  <a:pt x="0" y="0"/>
                </a:moveTo>
                <a:lnTo>
                  <a:pt x="8286750" y="0"/>
                </a:lnTo>
                <a:lnTo>
                  <a:pt x="8286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4" b="-34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 rot="0">
            <a:off x="8763000" y="0"/>
            <a:ext cx="4000500" cy="10287000"/>
            <a:chOff x="0" y="0"/>
            <a:chExt cx="533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34000" cy="13716000"/>
            </a:xfrm>
            <a:custGeom>
              <a:avLst/>
              <a:gdLst/>
              <a:ahLst/>
              <a:cxnLst/>
              <a:rect l="l" t="t" r="r" b="b"/>
              <a:pathLst>
                <a:path w="5334000" h="13716000">
                  <a:moveTo>
                    <a:pt x="0" y="0"/>
                  </a:moveTo>
                  <a:lnTo>
                    <a:pt x="5334000" y="0"/>
                  </a:lnTo>
                  <a:lnTo>
                    <a:pt x="533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B3A">
                <a:alpha val="7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33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1047750" y="2095500"/>
            <a:ext cx="1047750" cy="76200"/>
            <a:chOff x="0" y="0"/>
            <a:chExt cx="1397000" cy="10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97000" cy="101600"/>
            </a:xfrm>
            <a:custGeom>
              <a:avLst/>
              <a:gdLst/>
              <a:ahLst/>
              <a:cxnLst/>
              <a:rect l="l" t="t" r="r" b="b"/>
              <a:pathLst>
                <a:path w="1397000" h="101600">
                  <a:moveTo>
                    <a:pt x="0" y="0"/>
                  </a:moveTo>
                  <a:lnTo>
                    <a:pt x="1397000" y="0"/>
                  </a:lnTo>
                  <a:lnTo>
                    <a:pt x="1397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6C6DA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97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47750" y="1400175"/>
            <a:ext cx="57150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 b="1" spc="32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PRODUCT CONCEPT REVIEW</a:t>
            </a:r>
            <a:endParaRPr lang="en-US" sz="1800" b="1" spc="324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47750" y="2524125"/>
            <a:ext cx="10668000" cy="74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285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BrainPay 23:</a:t>
            </a:r>
            <a:endParaRPr lang="en-US" sz="285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90"/>
              </a:lnSpc>
            </a:pPr>
            <a:r>
              <a:rPr lang="en-US" sz="285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A Next-Generation Mobile Financial Services Experience</a:t>
            </a:r>
            <a:endParaRPr lang="en-US" sz="285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47750" y="6677025"/>
            <a:ext cx="7810500" cy="376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2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Product Concept Review at Brain Station 23</a:t>
            </a:r>
            <a:endParaRPr lang="en-US" sz="225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5247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5"/>
              </a:lnSpc>
            </a:pPr>
            <a:r>
              <a:rPr lang="en-US" sz="4350" b="1">
                <a:solidFill>
                  <a:srgbClr val="10233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Project Overview &amp; Context</a:t>
            </a:r>
            <a:endParaRPr lang="en-US" sz="4350" b="1">
              <a:solidFill>
                <a:srgbClr val="10233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47750" y="1381125"/>
            <a:ext cx="14287500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875">
                <a:solidFill>
                  <a:srgbClr val="5F7189"/>
                </a:solidFill>
                <a:latin typeface="DM Sans"/>
                <a:ea typeface="DM Sans"/>
                <a:cs typeface="DM Sans"/>
                <a:sym typeface="DM Sans"/>
              </a:rPr>
              <a:t>A focused review of the experience opportunity, product concept, and path to validation.</a:t>
            </a:r>
            <a:endParaRPr lang="en-US" sz="1875">
              <a:solidFill>
                <a:srgbClr val="5F718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1047750" y="3143250"/>
            <a:ext cx="2238375" cy="1381125"/>
            <a:chOff x="0" y="0"/>
            <a:chExt cx="2984500" cy="1841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4500" cy="1841500"/>
            </a:xfrm>
            <a:custGeom>
              <a:avLst/>
              <a:gdLst/>
              <a:ahLst/>
              <a:cxnLst/>
              <a:rect l="l" t="t" r="r" b="b"/>
              <a:pathLst>
                <a:path w="2984500" h="1841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744223"/>
                  </a:lnTo>
                  <a:cubicBezTo>
                    <a:pt x="2984500" y="1797948"/>
                    <a:pt x="2940948" y="1841500"/>
                    <a:pt x="2887223" y="1841500"/>
                  </a:cubicBezTo>
                  <a:lnTo>
                    <a:pt x="97277" y="1841500"/>
                  </a:lnTo>
                  <a:cubicBezTo>
                    <a:pt x="43552" y="1841500"/>
                    <a:pt x="0" y="1797948"/>
                    <a:pt x="0" y="17442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DD9E8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29845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Problem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sp>
        <p:nvSpPr>
          <p:cNvPr id="7" name="AutoShape 7"/>
          <p:cNvSpPr/>
          <p:nvPr/>
        </p:nvSpPr>
        <p:spPr>
          <a:xfrm>
            <a:off x="3286125" y="3829050"/>
            <a:ext cx="381000" cy="0"/>
          </a:xfrm>
          <a:prstGeom prst="line">
            <a:avLst/>
          </a:prstGeom>
          <a:ln w="28575" cap="rnd">
            <a:solidFill>
              <a:srgbClr val="26C6D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 rot="0">
            <a:off x="3714750" y="3143250"/>
            <a:ext cx="2238375" cy="1381125"/>
            <a:chOff x="0" y="0"/>
            <a:chExt cx="2984500" cy="1841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84500" cy="1841500"/>
            </a:xfrm>
            <a:custGeom>
              <a:avLst/>
              <a:gdLst/>
              <a:ahLst/>
              <a:cxnLst/>
              <a:rect l="l" t="t" r="r" b="b"/>
              <a:pathLst>
                <a:path w="2984500" h="1841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744223"/>
                  </a:lnTo>
                  <a:cubicBezTo>
                    <a:pt x="2984500" y="1797948"/>
                    <a:pt x="2940948" y="1841500"/>
                    <a:pt x="2887223" y="1841500"/>
                  </a:cubicBezTo>
                  <a:lnTo>
                    <a:pt x="97277" y="1841500"/>
                  </a:lnTo>
                  <a:cubicBezTo>
                    <a:pt x="43552" y="1841500"/>
                    <a:pt x="0" y="1797948"/>
                    <a:pt x="0" y="17442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DD9E8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29845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Competition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sp>
        <p:nvSpPr>
          <p:cNvPr id="11" name="AutoShape 11"/>
          <p:cNvSpPr/>
          <p:nvPr/>
        </p:nvSpPr>
        <p:spPr>
          <a:xfrm>
            <a:off x="5953125" y="3829050"/>
            <a:ext cx="381000" cy="0"/>
          </a:xfrm>
          <a:prstGeom prst="line">
            <a:avLst/>
          </a:prstGeom>
          <a:ln w="28575" cap="rnd">
            <a:solidFill>
              <a:srgbClr val="26C6D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0">
            <a:off x="6381750" y="3143250"/>
            <a:ext cx="2238375" cy="1381125"/>
            <a:chOff x="0" y="0"/>
            <a:chExt cx="2984500" cy="1841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84500" cy="1841500"/>
            </a:xfrm>
            <a:custGeom>
              <a:avLst/>
              <a:gdLst/>
              <a:ahLst/>
              <a:cxnLst/>
              <a:rect l="l" t="t" r="r" b="b"/>
              <a:pathLst>
                <a:path w="2984500" h="1841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744223"/>
                  </a:lnTo>
                  <a:cubicBezTo>
                    <a:pt x="2984500" y="1797948"/>
                    <a:pt x="2940948" y="1841500"/>
                    <a:pt x="2887223" y="1841500"/>
                  </a:cubicBezTo>
                  <a:lnTo>
                    <a:pt x="97277" y="1841500"/>
                  </a:lnTo>
                  <a:cubicBezTo>
                    <a:pt x="43552" y="1841500"/>
                    <a:pt x="0" y="1797948"/>
                    <a:pt x="0" y="17442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0B5CFF"/>
            </a:solidFill>
            <a:ln w="19050" cap="sq">
              <a:solidFill>
                <a:srgbClr val="0B5C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29845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  <a:endParaRPr lang="en-US" sz="18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Vision</a:t>
              </a:r>
              <a:endParaRPr lang="en-US" sz="18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>
            <a:off x="8620125" y="3829050"/>
            <a:ext cx="381000" cy="0"/>
          </a:xfrm>
          <a:prstGeom prst="line">
            <a:avLst/>
          </a:prstGeom>
          <a:ln w="28575" cap="rnd">
            <a:solidFill>
              <a:srgbClr val="26C6D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 rot="0">
            <a:off x="9048750" y="3143250"/>
            <a:ext cx="2238375" cy="1381125"/>
            <a:chOff x="0" y="0"/>
            <a:chExt cx="2984500" cy="1841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984500" cy="1841500"/>
            </a:xfrm>
            <a:custGeom>
              <a:avLst/>
              <a:gdLst/>
              <a:ahLst/>
              <a:cxnLst/>
              <a:rect l="l" t="t" r="r" b="b"/>
              <a:pathLst>
                <a:path w="2984500" h="1841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744223"/>
                  </a:lnTo>
                  <a:cubicBezTo>
                    <a:pt x="2984500" y="1797948"/>
                    <a:pt x="2940948" y="1841500"/>
                    <a:pt x="2887223" y="1841500"/>
                  </a:cubicBezTo>
                  <a:lnTo>
                    <a:pt x="97277" y="1841500"/>
                  </a:lnTo>
                  <a:cubicBezTo>
                    <a:pt x="43552" y="1841500"/>
                    <a:pt x="0" y="1797948"/>
                    <a:pt x="0" y="17442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DD9E8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29845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Experience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sp>
        <p:nvSpPr>
          <p:cNvPr id="19" name="AutoShape 19"/>
          <p:cNvSpPr/>
          <p:nvPr/>
        </p:nvSpPr>
        <p:spPr>
          <a:xfrm>
            <a:off x="11287125" y="3829050"/>
            <a:ext cx="381000" cy="0"/>
          </a:xfrm>
          <a:prstGeom prst="line">
            <a:avLst/>
          </a:prstGeom>
          <a:ln w="28575" cap="rnd">
            <a:solidFill>
              <a:srgbClr val="26C6D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 rot="0">
            <a:off x="11715750" y="3143250"/>
            <a:ext cx="2238375" cy="1381125"/>
            <a:chOff x="0" y="0"/>
            <a:chExt cx="2984500" cy="18415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984500" cy="1841500"/>
            </a:xfrm>
            <a:custGeom>
              <a:avLst/>
              <a:gdLst/>
              <a:ahLst/>
              <a:cxnLst/>
              <a:rect l="l" t="t" r="r" b="b"/>
              <a:pathLst>
                <a:path w="2984500" h="1841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744223"/>
                  </a:lnTo>
                  <a:cubicBezTo>
                    <a:pt x="2984500" y="1797948"/>
                    <a:pt x="2940948" y="1841500"/>
                    <a:pt x="2887223" y="1841500"/>
                  </a:cubicBezTo>
                  <a:lnTo>
                    <a:pt x="97277" y="1841500"/>
                  </a:lnTo>
                  <a:cubicBezTo>
                    <a:pt x="43552" y="1841500"/>
                    <a:pt x="0" y="1797948"/>
                    <a:pt x="0" y="17442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DD9E8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29845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05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Ecosystem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3954125" y="3829050"/>
            <a:ext cx="381000" cy="0"/>
          </a:xfrm>
          <a:prstGeom prst="line">
            <a:avLst/>
          </a:prstGeom>
          <a:ln w="28575" cap="rnd">
            <a:solidFill>
              <a:srgbClr val="26C6D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24"/>
          <p:cNvGrpSpPr/>
          <p:nvPr/>
        </p:nvGrpSpPr>
        <p:grpSpPr>
          <a:xfrm rot="0">
            <a:off x="14382750" y="3143250"/>
            <a:ext cx="2238375" cy="1381125"/>
            <a:chOff x="0" y="0"/>
            <a:chExt cx="2984500" cy="18415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984500" cy="1841500"/>
            </a:xfrm>
            <a:custGeom>
              <a:avLst/>
              <a:gdLst/>
              <a:ahLst/>
              <a:cxnLst/>
              <a:rect l="l" t="t" r="r" b="b"/>
              <a:pathLst>
                <a:path w="2984500" h="1841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744223"/>
                  </a:lnTo>
                  <a:cubicBezTo>
                    <a:pt x="2984500" y="1797948"/>
                    <a:pt x="2940948" y="1841500"/>
                    <a:pt x="2887223" y="1841500"/>
                  </a:cubicBezTo>
                  <a:lnTo>
                    <a:pt x="97277" y="1841500"/>
                  </a:lnTo>
                  <a:cubicBezTo>
                    <a:pt x="43552" y="1841500"/>
                    <a:pt x="0" y="1797948"/>
                    <a:pt x="0" y="17442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DD9E8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9525"/>
              <a:ext cx="29845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06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Roadmap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381250" y="5943600"/>
            <a:ext cx="13525500" cy="127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5"/>
              </a:lnSpc>
            </a:pPr>
            <a:r>
              <a:rPr lang="en-US" sz="3150" b="1">
                <a:solidFill>
                  <a:srgbClr val="10233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BrainPay 23 aims to redefine mobile financial services through a clearer experience and broader, better-connected service access.</a:t>
            </a:r>
            <a:endParaRPr lang="en-US" sz="3150" b="1">
              <a:solidFill>
                <a:srgbClr val="10233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0" y="0"/>
            <a:ext cx="8001000" cy="10287000"/>
          </a:xfrm>
          <a:custGeom>
            <a:avLst/>
            <a:gdLst/>
            <a:ahLst/>
            <a:cxnLst/>
            <a:rect l="l" t="t" r="r" b="b"/>
            <a:pathLst>
              <a:path w="8001000" h="10287000">
                <a:moveTo>
                  <a:pt x="0" y="0"/>
                </a:moveTo>
                <a:lnTo>
                  <a:pt x="8001000" y="0"/>
                </a:lnTo>
                <a:lnTo>
                  <a:pt x="8001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8" b="-98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 rot="0">
            <a:off x="1047750" y="1762125"/>
            <a:ext cx="952500" cy="76200"/>
            <a:chOff x="0" y="0"/>
            <a:chExt cx="1270000" cy="101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70000" cy="101600"/>
            </a:xfrm>
            <a:custGeom>
              <a:avLst/>
              <a:gdLst/>
              <a:ahLst/>
              <a:cxnLst/>
              <a:rect l="l" t="t" r="r" b="b"/>
              <a:pathLst>
                <a:path w="1270000" h="101600">
                  <a:moveTo>
                    <a:pt x="0" y="0"/>
                  </a:moveTo>
                  <a:lnTo>
                    <a:pt x="1270000" y="0"/>
                  </a:lnTo>
                  <a:lnTo>
                    <a:pt x="1270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6C6DA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70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7750" y="2324100"/>
            <a:ext cx="10001250" cy="266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6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One platform.</a:t>
            </a:r>
            <a:endParaRPr lang="en-US" sz="66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6930"/>
              </a:lnSpc>
            </a:pPr>
            <a:r>
              <a:rPr lang="en-US" sz="66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Everyday money,</a:t>
            </a:r>
            <a:endParaRPr lang="en-US" sz="66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6930"/>
              </a:lnSpc>
            </a:pPr>
            <a:r>
              <a:rPr lang="en-US" sz="66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made personal.</a:t>
            </a:r>
            <a:endParaRPr lang="en-US" sz="66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47750" y="6248400"/>
            <a:ext cx="7620000" cy="1138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2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 intuitive, comprehensive mobile financial platform designed around seamless integration, service breadth, and user empowerment.</a:t>
            </a:r>
            <a:endParaRPr lang="en-US" sz="225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52475"/>
            <a:ext cx="14287500" cy="543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4050" b="1">
                <a:solidFill>
                  <a:srgbClr val="10233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Proposed Home Screen &amp; Information Architecture</a:t>
            </a:r>
            <a:endParaRPr lang="en-US" sz="4050" b="1">
              <a:solidFill>
                <a:srgbClr val="10233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47750" y="1381125"/>
            <a:ext cx="14287500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875">
                <a:solidFill>
                  <a:srgbClr val="5F7189"/>
                </a:solidFill>
                <a:latin typeface="DM Sans"/>
                <a:ea typeface="DM Sans"/>
                <a:cs typeface="DM Sans"/>
                <a:sym typeface="DM Sans"/>
              </a:rPr>
              <a:t>Editable concept: task-first hierarchy, personalized access, and calm notification design.</a:t>
            </a:r>
            <a:endParaRPr lang="en-US" sz="1875">
              <a:solidFill>
                <a:srgbClr val="5F718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1619250" y="2238375"/>
            <a:ext cx="4667250" cy="7239000"/>
            <a:chOff x="0" y="0"/>
            <a:chExt cx="6223000" cy="9652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23000" cy="9652000"/>
            </a:xfrm>
            <a:custGeom>
              <a:avLst/>
              <a:gdLst/>
              <a:ahLst/>
              <a:cxnLst/>
              <a:rect l="l" t="t" r="r" b="b"/>
              <a:pathLst>
                <a:path w="6223000" h="9652000">
                  <a:moveTo>
                    <a:pt x="0" y="0"/>
                  </a:moveTo>
                  <a:lnTo>
                    <a:pt x="6223000" y="0"/>
                  </a:lnTo>
                  <a:lnTo>
                    <a:pt x="6223000" y="9652000"/>
                  </a:lnTo>
                  <a:lnTo>
                    <a:pt x="0" y="9652000"/>
                  </a:lnTo>
                  <a:close/>
                </a:path>
              </a:pathLst>
            </a:custGeom>
            <a:solidFill>
              <a:srgbClr val="071B3A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223000" cy="969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1857375" y="2571750"/>
            <a:ext cx="4191000" cy="6572250"/>
            <a:chOff x="0" y="0"/>
            <a:chExt cx="5588000" cy="876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88000" cy="8763000"/>
            </a:xfrm>
            <a:custGeom>
              <a:avLst/>
              <a:gdLst/>
              <a:ahLst/>
              <a:cxnLst/>
              <a:rect l="l" t="t" r="r" b="b"/>
              <a:pathLst>
                <a:path w="5588000" h="8763000">
                  <a:moveTo>
                    <a:pt x="0" y="0"/>
                  </a:moveTo>
                  <a:lnTo>
                    <a:pt x="5588000" y="0"/>
                  </a:lnTo>
                  <a:lnTo>
                    <a:pt x="5588000" y="8763000"/>
                  </a:lnTo>
                  <a:lnTo>
                    <a:pt x="0" y="8763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588000" cy="880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190750" y="2971800"/>
            <a:ext cx="3333750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875">
                <a:solidFill>
                  <a:srgbClr val="5F7189"/>
                </a:solidFill>
                <a:latin typeface="DM Sans"/>
                <a:ea typeface="DM Sans"/>
                <a:cs typeface="DM Sans"/>
                <a:sym typeface="DM Sans"/>
              </a:rPr>
              <a:t>Good morning</a:t>
            </a:r>
            <a:endParaRPr lang="en-US" sz="1875">
              <a:solidFill>
                <a:srgbClr val="5F718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190750" y="3552825"/>
            <a:ext cx="3333750" cy="748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775" b="1">
                <a:solidFill>
                  <a:srgbClr val="10233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Available balance</a:t>
            </a:r>
            <a:endParaRPr lang="en-US" sz="2775" b="1">
              <a:solidFill>
                <a:srgbClr val="10233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15"/>
              </a:lnSpc>
            </a:pPr>
            <a:r>
              <a:rPr lang="en-US" sz="2775" b="1">
                <a:solidFill>
                  <a:srgbClr val="10233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৳ 24,850</a:t>
            </a:r>
            <a:endParaRPr lang="en-US" sz="2775" b="1">
              <a:solidFill>
                <a:srgbClr val="10233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90750" y="4876800"/>
            <a:ext cx="333375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rPr>
              <a:t>Quick access</a:t>
            </a:r>
            <a:endParaRPr lang="en-US" sz="1800" b="1">
              <a:solidFill>
                <a:srgbClr val="10233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238375" y="8553450"/>
            <a:ext cx="3429000" cy="221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50">
                <a:solidFill>
                  <a:srgbClr val="5F7189"/>
                </a:solidFill>
                <a:latin typeface="DM Sans"/>
                <a:ea typeface="DM Sans"/>
                <a:cs typeface="DM Sans"/>
                <a:sym typeface="DM Sans"/>
              </a:rPr>
              <a:t>Home     Services     Activity</a:t>
            </a:r>
            <a:endParaRPr lang="en-US" sz="1350">
              <a:solidFill>
                <a:srgbClr val="5F718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" name="Group 14"/>
          <p:cNvGrpSpPr/>
          <p:nvPr/>
        </p:nvGrpSpPr>
        <p:grpSpPr>
          <a:xfrm rot="0">
            <a:off x="2095500" y="5524500"/>
            <a:ext cx="781050" cy="781050"/>
            <a:chOff x="0" y="0"/>
            <a:chExt cx="1041400" cy="1041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41400" cy="1041400"/>
            </a:xfrm>
            <a:custGeom>
              <a:avLst/>
              <a:gdLst/>
              <a:ahLst/>
              <a:cxnLst/>
              <a:rect l="l" t="t" r="r" b="b"/>
              <a:pathLst>
                <a:path w="1041400" h="1041400">
                  <a:moveTo>
                    <a:pt x="278780" y="0"/>
                  </a:moveTo>
                  <a:lnTo>
                    <a:pt x="762620" y="0"/>
                  </a:lnTo>
                  <a:cubicBezTo>
                    <a:pt x="836557" y="0"/>
                    <a:pt x="907466" y="29371"/>
                    <a:pt x="959747" y="81653"/>
                  </a:cubicBezTo>
                  <a:cubicBezTo>
                    <a:pt x="1012029" y="133934"/>
                    <a:pt x="1041400" y="204843"/>
                    <a:pt x="1041400" y="278780"/>
                  </a:cubicBezTo>
                  <a:lnTo>
                    <a:pt x="1041400" y="762620"/>
                  </a:lnTo>
                  <a:cubicBezTo>
                    <a:pt x="1041400" y="836557"/>
                    <a:pt x="1012029" y="907466"/>
                    <a:pt x="959747" y="959747"/>
                  </a:cubicBezTo>
                  <a:cubicBezTo>
                    <a:pt x="907466" y="1012029"/>
                    <a:pt x="836557" y="1041400"/>
                    <a:pt x="762620" y="1041400"/>
                  </a:cubicBezTo>
                  <a:lnTo>
                    <a:pt x="278780" y="1041400"/>
                  </a:lnTo>
                  <a:cubicBezTo>
                    <a:pt x="204843" y="1041400"/>
                    <a:pt x="133934" y="1012029"/>
                    <a:pt x="81653" y="959747"/>
                  </a:cubicBezTo>
                  <a:cubicBezTo>
                    <a:pt x="29371" y="907466"/>
                    <a:pt x="0" y="836557"/>
                    <a:pt x="0" y="762620"/>
                  </a:cubicBezTo>
                  <a:lnTo>
                    <a:pt x="0" y="278780"/>
                  </a:lnTo>
                  <a:cubicBezTo>
                    <a:pt x="0" y="204843"/>
                    <a:pt x="29371" y="133934"/>
                    <a:pt x="81653" y="81653"/>
                  </a:cubicBezTo>
                  <a:cubicBezTo>
                    <a:pt x="133934" y="29371"/>
                    <a:pt x="204843" y="0"/>
                    <a:pt x="278780" y="0"/>
                  </a:cubicBezTo>
                  <a:close/>
                </a:path>
              </a:pathLst>
            </a:custGeom>
            <a:solidFill>
              <a:srgbClr val="0B5C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1041400" cy="1031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Send</a:t>
              </a:r>
              <a:endParaRPr lang="en-US" sz="18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3028950" y="5524500"/>
            <a:ext cx="781050" cy="781050"/>
            <a:chOff x="0" y="0"/>
            <a:chExt cx="1041400" cy="1041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41400" cy="1041400"/>
            </a:xfrm>
            <a:custGeom>
              <a:avLst/>
              <a:gdLst/>
              <a:ahLst/>
              <a:cxnLst/>
              <a:rect l="l" t="t" r="r" b="b"/>
              <a:pathLst>
                <a:path w="1041400" h="1041400">
                  <a:moveTo>
                    <a:pt x="278780" y="0"/>
                  </a:moveTo>
                  <a:lnTo>
                    <a:pt x="762620" y="0"/>
                  </a:lnTo>
                  <a:cubicBezTo>
                    <a:pt x="836557" y="0"/>
                    <a:pt x="907466" y="29371"/>
                    <a:pt x="959747" y="81653"/>
                  </a:cubicBezTo>
                  <a:cubicBezTo>
                    <a:pt x="1012029" y="133934"/>
                    <a:pt x="1041400" y="204843"/>
                    <a:pt x="1041400" y="278780"/>
                  </a:cubicBezTo>
                  <a:lnTo>
                    <a:pt x="1041400" y="762620"/>
                  </a:lnTo>
                  <a:cubicBezTo>
                    <a:pt x="1041400" y="836557"/>
                    <a:pt x="1012029" y="907466"/>
                    <a:pt x="959747" y="959747"/>
                  </a:cubicBezTo>
                  <a:cubicBezTo>
                    <a:pt x="907466" y="1012029"/>
                    <a:pt x="836557" y="1041400"/>
                    <a:pt x="762620" y="1041400"/>
                  </a:cubicBezTo>
                  <a:lnTo>
                    <a:pt x="278780" y="1041400"/>
                  </a:lnTo>
                  <a:cubicBezTo>
                    <a:pt x="204843" y="1041400"/>
                    <a:pt x="133934" y="1012029"/>
                    <a:pt x="81653" y="959747"/>
                  </a:cubicBezTo>
                  <a:cubicBezTo>
                    <a:pt x="29371" y="907466"/>
                    <a:pt x="0" y="836557"/>
                    <a:pt x="0" y="762620"/>
                  </a:cubicBezTo>
                  <a:lnTo>
                    <a:pt x="0" y="278780"/>
                  </a:lnTo>
                  <a:cubicBezTo>
                    <a:pt x="0" y="204843"/>
                    <a:pt x="29371" y="133934"/>
                    <a:pt x="81653" y="81653"/>
                  </a:cubicBezTo>
                  <a:cubicBezTo>
                    <a:pt x="133934" y="29371"/>
                    <a:pt x="204843" y="0"/>
                    <a:pt x="278780" y="0"/>
                  </a:cubicBezTo>
                  <a:close/>
                </a:path>
              </a:pathLst>
            </a:custGeom>
            <a:solidFill>
              <a:srgbClr val="DCECFF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1041400" cy="1031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Pay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3962400" y="5524500"/>
            <a:ext cx="781050" cy="781050"/>
            <a:chOff x="0" y="0"/>
            <a:chExt cx="1041400" cy="1041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41400" cy="1041400"/>
            </a:xfrm>
            <a:custGeom>
              <a:avLst/>
              <a:gdLst/>
              <a:ahLst/>
              <a:cxnLst/>
              <a:rect l="l" t="t" r="r" b="b"/>
              <a:pathLst>
                <a:path w="1041400" h="1041400">
                  <a:moveTo>
                    <a:pt x="278780" y="0"/>
                  </a:moveTo>
                  <a:lnTo>
                    <a:pt x="762620" y="0"/>
                  </a:lnTo>
                  <a:cubicBezTo>
                    <a:pt x="836557" y="0"/>
                    <a:pt x="907466" y="29371"/>
                    <a:pt x="959747" y="81653"/>
                  </a:cubicBezTo>
                  <a:cubicBezTo>
                    <a:pt x="1012029" y="133934"/>
                    <a:pt x="1041400" y="204843"/>
                    <a:pt x="1041400" y="278780"/>
                  </a:cubicBezTo>
                  <a:lnTo>
                    <a:pt x="1041400" y="762620"/>
                  </a:lnTo>
                  <a:cubicBezTo>
                    <a:pt x="1041400" y="836557"/>
                    <a:pt x="1012029" y="907466"/>
                    <a:pt x="959747" y="959747"/>
                  </a:cubicBezTo>
                  <a:cubicBezTo>
                    <a:pt x="907466" y="1012029"/>
                    <a:pt x="836557" y="1041400"/>
                    <a:pt x="762620" y="1041400"/>
                  </a:cubicBezTo>
                  <a:lnTo>
                    <a:pt x="278780" y="1041400"/>
                  </a:lnTo>
                  <a:cubicBezTo>
                    <a:pt x="204843" y="1041400"/>
                    <a:pt x="133934" y="1012029"/>
                    <a:pt x="81653" y="959747"/>
                  </a:cubicBezTo>
                  <a:cubicBezTo>
                    <a:pt x="29371" y="907466"/>
                    <a:pt x="0" y="836557"/>
                    <a:pt x="0" y="762620"/>
                  </a:cubicBezTo>
                  <a:lnTo>
                    <a:pt x="0" y="278780"/>
                  </a:lnTo>
                  <a:cubicBezTo>
                    <a:pt x="0" y="204843"/>
                    <a:pt x="29371" y="133934"/>
                    <a:pt x="81653" y="81653"/>
                  </a:cubicBezTo>
                  <a:cubicBezTo>
                    <a:pt x="133934" y="29371"/>
                    <a:pt x="204843" y="0"/>
                    <a:pt x="278780" y="0"/>
                  </a:cubicBezTo>
                  <a:close/>
                </a:path>
              </a:pathLst>
            </a:custGeom>
            <a:solidFill>
              <a:srgbClr val="DCECFF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1041400" cy="1031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Cash out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4895850" y="5524500"/>
            <a:ext cx="781050" cy="781050"/>
            <a:chOff x="0" y="0"/>
            <a:chExt cx="1041400" cy="1041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41400" cy="1041400"/>
            </a:xfrm>
            <a:custGeom>
              <a:avLst/>
              <a:gdLst/>
              <a:ahLst/>
              <a:cxnLst/>
              <a:rect l="l" t="t" r="r" b="b"/>
              <a:pathLst>
                <a:path w="1041400" h="1041400">
                  <a:moveTo>
                    <a:pt x="278780" y="0"/>
                  </a:moveTo>
                  <a:lnTo>
                    <a:pt x="762620" y="0"/>
                  </a:lnTo>
                  <a:cubicBezTo>
                    <a:pt x="836557" y="0"/>
                    <a:pt x="907466" y="29371"/>
                    <a:pt x="959747" y="81653"/>
                  </a:cubicBezTo>
                  <a:cubicBezTo>
                    <a:pt x="1012029" y="133934"/>
                    <a:pt x="1041400" y="204843"/>
                    <a:pt x="1041400" y="278780"/>
                  </a:cubicBezTo>
                  <a:lnTo>
                    <a:pt x="1041400" y="762620"/>
                  </a:lnTo>
                  <a:cubicBezTo>
                    <a:pt x="1041400" y="836557"/>
                    <a:pt x="1012029" y="907466"/>
                    <a:pt x="959747" y="959747"/>
                  </a:cubicBezTo>
                  <a:cubicBezTo>
                    <a:pt x="907466" y="1012029"/>
                    <a:pt x="836557" y="1041400"/>
                    <a:pt x="762620" y="1041400"/>
                  </a:cubicBezTo>
                  <a:lnTo>
                    <a:pt x="278780" y="1041400"/>
                  </a:lnTo>
                  <a:cubicBezTo>
                    <a:pt x="204843" y="1041400"/>
                    <a:pt x="133934" y="1012029"/>
                    <a:pt x="81653" y="959747"/>
                  </a:cubicBezTo>
                  <a:cubicBezTo>
                    <a:pt x="29371" y="907466"/>
                    <a:pt x="0" y="836557"/>
                    <a:pt x="0" y="762620"/>
                  </a:cubicBezTo>
                  <a:lnTo>
                    <a:pt x="0" y="278780"/>
                  </a:lnTo>
                  <a:cubicBezTo>
                    <a:pt x="0" y="204843"/>
                    <a:pt x="29371" y="133934"/>
                    <a:pt x="81653" y="81653"/>
                  </a:cubicBezTo>
                  <a:cubicBezTo>
                    <a:pt x="133934" y="29371"/>
                    <a:pt x="204843" y="0"/>
                    <a:pt x="278780" y="0"/>
                  </a:cubicBezTo>
                  <a:close/>
                </a:path>
              </a:pathLst>
            </a:custGeom>
            <a:solidFill>
              <a:srgbClr val="DCECFF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1041400" cy="1031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More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8096250" y="2952750"/>
            <a:ext cx="3429000" cy="1619250"/>
            <a:chOff x="0" y="0"/>
            <a:chExt cx="4572000" cy="2159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572000" cy="2159000"/>
            </a:xfrm>
            <a:custGeom>
              <a:avLst/>
              <a:gdLst/>
              <a:ahLst/>
              <a:cxnLst/>
              <a:rect l="l" t="t" r="r" b="b"/>
              <a:pathLst>
                <a:path w="4572000" h="2159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2095500"/>
                  </a:lnTo>
                  <a:cubicBezTo>
                    <a:pt x="4572000" y="2130570"/>
                    <a:pt x="4543570" y="2159000"/>
                    <a:pt x="4508500" y="2159000"/>
                  </a:cubicBezTo>
                  <a:lnTo>
                    <a:pt x="63500" y="2159000"/>
                  </a:lnTo>
                  <a:cubicBezTo>
                    <a:pt x="28430" y="2159000"/>
                    <a:pt x="0" y="2130570"/>
                    <a:pt x="0" y="2095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0B5CFF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4572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HOME</a:t>
              </a:r>
              <a:endParaRPr lang="en-US" sz="18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Personalized overview</a:t>
              </a:r>
              <a:endParaRPr lang="en-US" sz="18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12192000" y="2952750"/>
            <a:ext cx="3429000" cy="1619250"/>
            <a:chOff x="0" y="0"/>
            <a:chExt cx="4572000" cy="2159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572000" cy="2159000"/>
            </a:xfrm>
            <a:custGeom>
              <a:avLst/>
              <a:gdLst/>
              <a:ahLst/>
              <a:cxnLst/>
              <a:rect l="l" t="t" r="r" b="b"/>
              <a:pathLst>
                <a:path w="4572000" h="2159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2095500"/>
                  </a:lnTo>
                  <a:cubicBezTo>
                    <a:pt x="4572000" y="2130570"/>
                    <a:pt x="4543570" y="2159000"/>
                    <a:pt x="4508500" y="2159000"/>
                  </a:cubicBezTo>
                  <a:lnTo>
                    <a:pt x="63500" y="2159000"/>
                  </a:lnTo>
                  <a:cubicBezTo>
                    <a:pt x="28430" y="2159000"/>
                    <a:pt x="0" y="2130570"/>
                    <a:pt x="0" y="2095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9525"/>
              <a:ext cx="4572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SERVICES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Wallet • bills • finance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0">
            <a:off x="8096250" y="5429250"/>
            <a:ext cx="3429000" cy="1619250"/>
            <a:chOff x="0" y="0"/>
            <a:chExt cx="4572000" cy="2159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572000" cy="2159000"/>
            </a:xfrm>
            <a:custGeom>
              <a:avLst/>
              <a:gdLst/>
              <a:ahLst/>
              <a:cxnLst/>
              <a:rect l="l" t="t" r="r" b="b"/>
              <a:pathLst>
                <a:path w="4572000" h="2159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2095500"/>
                  </a:lnTo>
                  <a:cubicBezTo>
                    <a:pt x="4572000" y="2130570"/>
                    <a:pt x="4543570" y="2159000"/>
                    <a:pt x="4508500" y="2159000"/>
                  </a:cubicBezTo>
                  <a:lnTo>
                    <a:pt x="63500" y="2159000"/>
                  </a:lnTo>
                  <a:cubicBezTo>
                    <a:pt x="28430" y="2159000"/>
                    <a:pt x="0" y="2130570"/>
                    <a:pt x="0" y="2095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9525"/>
              <a:ext cx="4572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ACTIVITY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History • receipts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 rot="0">
            <a:off x="12192000" y="5429250"/>
            <a:ext cx="3429000" cy="1619250"/>
            <a:chOff x="0" y="0"/>
            <a:chExt cx="4572000" cy="2159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572000" cy="2159000"/>
            </a:xfrm>
            <a:custGeom>
              <a:avLst/>
              <a:gdLst/>
              <a:ahLst/>
              <a:cxnLst/>
              <a:rect l="l" t="t" r="r" b="b"/>
              <a:pathLst>
                <a:path w="4572000" h="2159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2095500"/>
                  </a:lnTo>
                  <a:cubicBezTo>
                    <a:pt x="4572000" y="2130570"/>
                    <a:pt x="4543570" y="2159000"/>
                    <a:pt x="4508500" y="2159000"/>
                  </a:cubicBezTo>
                  <a:lnTo>
                    <a:pt x="63500" y="2159000"/>
                  </a:lnTo>
                  <a:cubicBezTo>
                    <a:pt x="28430" y="2159000"/>
                    <a:pt x="0" y="2130570"/>
                    <a:pt x="0" y="2095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9525"/>
              <a:ext cx="4572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SUPPORT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Alerts • help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5247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5"/>
              </a:lnSpc>
            </a:pPr>
            <a:r>
              <a:rPr lang="en-US" sz="4350" b="1">
                <a:solidFill>
                  <a:srgbClr val="10233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Complete BrainPay 23 Service Ecosystem</a:t>
            </a:r>
            <a:endParaRPr lang="en-US" sz="4350" b="1">
              <a:solidFill>
                <a:srgbClr val="10233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47750" y="1381125"/>
            <a:ext cx="14287500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875">
                <a:solidFill>
                  <a:srgbClr val="5F7189"/>
                </a:solidFill>
                <a:latin typeface="DM Sans"/>
                <a:ea typeface="DM Sans"/>
                <a:cs typeface="DM Sans"/>
                <a:sym typeface="DM Sans"/>
              </a:rPr>
              <a:t>A modular service landscape. Items marked Proposed require feasibility and compliance validation.</a:t>
            </a:r>
            <a:endParaRPr lang="en-US" sz="1875">
              <a:solidFill>
                <a:srgbClr val="5F718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1047750" y="2667000"/>
            <a:ext cx="2857500" cy="1381125"/>
            <a:chOff x="0" y="0"/>
            <a:chExt cx="3810000" cy="1841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10000" cy="1841500"/>
            </a:xfrm>
            <a:custGeom>
              <a:avLst/>
              <a:gdLst/>
              <a:ahLst/>
              <a:cxnLst/>
              <a:rect l="l" t="t" r="r" b="b"/>
              <a:pathLst>
                <a:path w="3810000" h="18415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765300"/>
                  </a:lnTo>
                  <a:cubicBezTo>
                    <a:pt x="3810000" y="1807384"/>
                    <a:pt x="3775884" y="1841500"/>
                    <a:pt x="3733800" y="1841500"/>
                  </a:cubicBezTo>
                  <a:lnTo>
                    <a:pt x="76200" y="1841500"/>
                  </a:lnTo>
                  <a:cubicBezTo>
                    <a:pt x="34116" y="1841500"/>
                    <a:pt x="0" y="1807384"/>
                    <a:pt x="0" y="176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8FC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38100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Other Services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4419600" y="2667000"/>
            <a:ext cx="2857500" cy="1381125"/>
            <a:chOff x="0" y="0"/>
            <a:chExt cx="3810000" cy="1841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10000" cy="1841500"/>
            </a:xfrm>
            <a:custGeom>
              <a:avLst/>
              <a:gdLst/>
              <a:ahLst/>
              <a:cxnLst/>
              <a:rect l="l" t="t" r="r" b="b"/>
              <a:pathLst>
                <a:path w="3810000" h="18415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765300"/>
                  </a:lnTo>
                  <a:cubicBezTo>
                    <a:pt x="3810000" y="1807384"/>
                    <a:pt x="3775884" y="1841500"/>
                    <a:pt x="3733800" y="1841500"/>
                  </a:cubicBezTo>
                  <a:lnTo>
                    <a:pt x="76200" y="1841500"/>
                  </a:lnTo>
                  <a:cubicBezTo>
                    <a:pt x="34116" y="1841500"/>
                    <a:pt x="0" y="1807384"/>
                    <a:pt x="0" y="176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CEC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38100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Insurance · Proposed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7791450" y="2667000"/>
            <a:ext cx="2857500" cy="1381125"/>
            <a:chOff x="0" y="0"/>
            <a:chExt cx="3810000" cy="1841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10000" cy="1841500"/>
            </a:xfrm>
            <a:custGeom>
              <a:avLst/>
              <a:gdLst/>
              <a:ahLst/>
              <a:cxnLst/>
              <a:rect l="l" t="t" r="r" b="b"/>
              <a:pathLst>
                <a:path w="3810000" h="18415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765300"/>
                  </a:lnTo>
                  <a:cubicBezTo>
                    <a:pt x="3810000" y="1807384"/>
                    <a:pt x="3775884" y="1841500"/>
                    <a:pt x="3733800" y="1841500"/>
                  </a:cubicBezTo>
                  <a:lnTo>
                    <a:pt x="76200" y="1841500"/>
                  </a:lnTo>
                  <a:cubicBezTo>
                    <a:pt x="34116" y="1841500"/>
                    <a:pt x="0" y="1807384"/>
                    <a:pt x="0" y="176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B5CFF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38100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Savings</a:t>
              </a:r>
              <a:endParaRPr lang="en-US" sz="18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11163300" y="2667000"/>
            <a:ext cx="2857500" cy="1381125"/>
            <a:chOff x="0" y="0"/>
            <a:chExt cx="3810000" cy="1841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10000" cy="1841500"/>
            </a:xfrm>
            <a:custGeom>
              <a:avLst/>
              <a:gdLst/>
              <a:ahLst/>
              <a:cxnLst/>
              <a:rect l="l" t="t" r="r" b="b"/>
              <a:pathLst>
                <a:path w="3810000" h="18415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765300"/>
                  </a:lnTo>
                  <a:cubicBezTo>
                    <a:pt x="3810000" y="1807384"/>
                    <a:pt x="3775884" y="1841500"/>
                    <a:pt x="3733800" y="1841500"/>
                  </a:cubicBezTo>
                  <a:lnTo>
                    <a:pt x="76200" y="1841500"/>
                  </a:lnTo>
                  <a:cubicBezTo>
                    <a:pt x="34116" y="1841500"/>
                    <a:pt x="0" y="1807384"/>
                    <a:pt x="0" y="176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8FC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38100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Loans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14535150" y="2667000"/>
            <a:ext cx="2857500" cy="1381125"/>
            <a:chOff x="0" y="0"/>
            <a:chExt cx="3810000" cy="1841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810000" cy="1841500"/>
            </a:xfrm>
            <a:custGeom>
              <a:avLst/>
              <a:gdLst/>
              <a:ahLst/>
              <a:cxnLst/>
              <a:rect l="l" t="t" r="r" b="b"/>
              <a:pathLst>
                <a:path w="3810000" h="18415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765300"/>
                  </a:lnTo>
                  <a:cubicBezTo>
                    <a:pt x="3810000" y="1807384"/>
                    <a:pt x="3775884" y="1841500"/>
                    <a:pt x="3733800" y="1841500"/>
                  </a:cubicBezTo>
                  <a:lnTo>
                    <a:pt x="76200" y="1841500"/>
                  </a:lnTo>
                  <a:cubicBezTo>
                    <a:pt x="34116" y="1841500"/>
                    <a:pt x="0" y="1807384"/>
                    <a:pt x="0" y="176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8FC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38100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Education Fee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 rot="0">
            <a:off x="1047750" y="4762500"/>
            <a:ext cx="2857500" cy="1381125"/>
            <a:chOff x="0" y="0"/>
            <a:chExt cx="3810000" cy="1841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810000" cy="1841500"/>
            </a:xfrm>
            <a:custGeom>
              <a:avLst/>
              <a:gdLst/>
              <a:ahLst/>
              <a:cxnLst/>
              <a:rect l="l" t="t" r="r" b="b"/>
              <a:pathLst>
                <a:path w="3810000" h="18415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765300"/>
                  </a:lnTo>
                  <a:cubicBezTo>
                    <a:pt x="3810000" y="1807384"/>
                    <a:pt x="3775884" y="1841500"/>
                    <a:pt x="3733800" y="1841500"/>
                  </a:cubicBezTo>
                  <a:lnTo>
                    <a:pt x="76200" y="1841500"/>
                  </a:lnTo>
                  <a:cubicBezTo>
                    <a:pt x="34116" y="1841500"/>
                    <a:pt x="0" y="1807384"/>
                    <a:pt x="0" y="176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CECFF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38100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Microfinance · Proposed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 rot="0">
            <a:off x="4419600" y="4762500"/>
            <a:ext cx="2857500" cy="1381125"/>
            <a:chOff x="0" y="0"/>
            <a:chExt cx="3810000" cy="18415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810000" cy="1841500"/>
            </a:xfrm>
            <a:custGeom>
              <a:avLst/>
              <a:gdLst/>
              <a:ahLst/>
              <a:cxnLst/>
              <a:rect l="l" t="t" r="r" b="b"/>
              <a:pathLst>
                <a:path w="3810000" h="18415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765300"/>
                  </a:lnTo>
                  <a:cubicBezTo>
                    <a:pt x="3810000" y="1807384"/>
                    <a:pt x="3775884" y="1841500"/>
                    <a:pt x="3733800" y="1841500"/>
                  </a:cubicBezTo>
                  <a:lnTo>
                    <a:pt x="76200" y="1841500"/>
                  </a:lnTo>
                  <a:cubicBezTo>
                    <a:pt x="34116" y="1841500"/>
                    <a:pt x="0" y="1807384"/>
                    <a:pt x="0" y="176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8FC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38100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Toll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7791450" y="4762500"/>
            <a:ext cx="2857500" cy="1381125"/>
            <a:chOff x="0" y="0"/>
            <a:chExt cx="3810000" cy="18415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810000" cy="1841500"/>
            </a:xfrm>
            <a:custGeom>
              <a:avLst/>
              <a:gdLst/>
              <a:ahLst/>
              <a:cxnLst/>
              <a:rect l="l" t="t" r="r" b="b"/>
              <a:pathLst>
                <a:path w="3810000" h="18415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765300"/>
                  </a:lnTo>
                  <a:cubicBezTo>
                    <a:pt x="3810000" y="1807384"/>
                    <a:pt x="3775884" y="1841500"/>
                    <a:pt x="3733800" y="1841500"/>
                  </a:cubicBezTo>
                  <a:lnTo>
                    <a:pt x="76200" y="1841500"/>
                  </a:lnTo>
                  <a:cubicBezTo>
                    <a:pt x="34116" y="1841500"/>
                    <a:pt x="0" y="1807384"/>
                    <a:pt x="0" y="176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CECFF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9525"/>
              <a:ext cx="38100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Reimbursement · Proposed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11163300" y="4762500"/>
            <a:ext cx="2857500" cy="1381125"/>
            <a:chOff x="0" y="0"/>
            <a:chExt cx="3810000" cy="18415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810000" cy="1841500"/>
            </a:xfrm>
            <a:custGeom>
              <a:avLst/>
              <a:gdLst/>
              <a:ahLst/>
              <a:cxnLst/>
              <a:rect l="l" t="t" r="r" b="b"/>
              <a:pathLst>
                <a:path w="3810000" h="18415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765300"/>
                  </a:lnTo>
                  <a:cubicBezTo>
                    <a:pt x="3810000" y="1807384"/>
                    <a:pt x="3775884" y="1841500"/>
                    <a:pt x="3733800" y="1841500"/>
                  </a:cubicBezTo>
                  <a:lnTo>
                    <a:pt x="76200" y="1841500"/>
                  </a:lnTo>
                  <a:cubicBezTo>
                    <a:pt x="34116" y="1841500"/>
                    <a:pt x="0" y="1807384"/>
                    <a:pt x="0" y="176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8FC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9525"/>
              <a:ext cx="38100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Remittance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4535150" y="4762500"/>
            <a:ext cx="2857500" cy="1381125"/>
            <a:chOff x="0" y="0"/>
            <a:chExt cx="3810000" cy="18415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810000" cy="1841500"/>
            </a:xfrm>
            <a:custGeom>
              <a:avLst/>
              <a:gdLst/>
              <a:ahLst/>
              <a:cxnLst/>
              <a:rect l="l" t="t" r="r" b="b"/>
              <a:pathLst>
                <a:path w="3810000" h="18415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765300"/>
                  </a:lnTo>
                  <a:cubicBezTo>
                    <a:pt x="3810000" y="1807384"/>
                    <a:pt x="3775884" y="1841500"/>
                    <a:pt x="3733800" y="1841500"/>
                  </a:cubicBezTo>
                  <a:lnTo>
                    <a:pt x="76200" y="1841500"/>
                  </a:lnTo>
                  <a:cubicBezTo>
                    <a:pt x="34116" y="1841500"/>
                    <a:pt x="0" y="1807384"/>
                    <a:pt x="0" y="176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8FC"/>
            </a:solidFill>
            <a:ln cap="sq">
              <a:noFill/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9525"/>
              <a:ext cx="38100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Donation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 rot="0">
            <a:off x="1047750" y="6858000"/>
            <a:ext cx="2857500" cy="1381125"/>
            <a:chOff x="0" y="0"/>
            <a:chExt cx="3810000" cy="18415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810000" cy="1841500"/>
            </a:xfrm>
            <a:custGeom>
              <a:avLst/>
              <a:gdLst/>
              <a:ahLst/>
              <a:cxnLst/>
              <a:rect l="l" t="t" r="r" b="b"/>
              <a:pathLst>
                <a:path w="3810000" h="18415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765300"/>
                  </a:lnTo>
                  <a:cubicBezTo>
                    <a:pt x="3810000" y="1807384"/>
                    <a:pt x="3775884" y="1841500"/>
                    <a:pt x="3733800" y="1841500"/>
                  </a:cubicBezTo>
                  <a:lnTo>
                    <a:pt x="76200" y="1841500"/>
                  </a:lnTo>
                  <a:cubicBezTo>
                    <a:pt x="34116" y="1841500"/>
                    <a:pt x="0" y="1807384"/>
                    <a:pt x="0" y="176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8FC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9525"/>
              <a:ext cx="38100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Zakat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 rot="0">
            <a:off x="4419600" y="6858000"/>
            <a:ext cx="2857500" cy="1381125"/>
            <a:chOff x="0" y="0"/>
            <a:chExt cx="3810000" cy="18415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810000" cy="1841500"/>
            </a:xfrm>
            <a:custGeom>
              <a:avLst/>
              <a:gdLst/>
              <a:ahLst/>
              <a:cxnLst/>
              <a:rect l="l" t="t" r="r" b="b"/>
              <a:pathLst>
                <a:path w="3810000" h="18415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765300"/>
                  </a:lnTo>
                  <a:cubicBezTo>
                    <a:pt x="3810000" y="1807384"/>
                    <a:pt x="3775884" y="1841500"/>
                    <a:pt x="3733800" y="1841500"/>
                  </a:cubicBezTo>
                  <a:lnTo>
                    <a:pt x="76200" y="1841500"/>
                  </a:lnTo>
                  <a:cubicBezTo>
                    <a:pt x="34116" y="1841500"/>
                    <a:pt x="0" y="1807384"/>
                    <a:pt x="0" y="176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CECFF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9525"/>
              <a:ext cx="38100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Gaming · Proposed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 rot="0">
            <a:off x="7791450" y="6858000"/>
            <a:ext cx="2857500" cy="1381125"/>
            <a:chOff x="0" y="0"/>
            <a:chExt cx="3810000" cy="18415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810000" cy="1841500"/>
            </a:xfrm>
            <a:custGeom>
              <a:avLst/>
              <a:gdLst/>
              <a:ahLst/>
              <a:cxnLst/>
              <a:rect l="l" t="t" r="r" b="b"/>
              <a:pathLst>
                <a:path w="3810000" h="18415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765300"/>
                  </a:lnTo>
                  <a:cubicBezTo>
                    <a:pt x="3810000" y="1807384"/>
                    <a:pt x="3775884" y="1841500"/>
                    <a:pt x="3733800" y="1841500"/>
                  </a:cubicBezTo>
                  <a:lnTo>
                    <a:pt x="76200" y="1841500"/>
                  </a:lnTo>
                  <a:cubicBezTo>
                    <a:pt x="34116" y="1841500"/>
                    <a:pt x="0" y="1807384"/>
                    <a:pt x="0" y="176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B5CFF"/>
            </a:solidFill>
            <a:ln cap="sq">
              <a:noFill/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9525"/>
              <a:ext cx="38100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Rewards</a:t>
              </a:r>
              <a:endParaRPr lang="en-US" sz="18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 rot="0">
            <a:off x="11163300" y="6858000"/>
            <a:ext cx="2857500" cy="1381125"/>
            <a:chOff x="0" y="0"/>
            <a:chExt cx="3810000" cy="18415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810000" cy="1841500"/>
            </a:xfrm>
            <a:custGeom>
              <a:avLst/>
              <a:gdLst/>
              <a:ahLst/>
              <a:cxnLst/>
              <a:rect l="l" t="t" r="r" b="b"/>
              <a:pathLst>
                <a:path w="3810000" h="18415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765300"/>
                  </a:lnTo>
                  <a:cubicBezTo>
                    <a:pt x="3810000" y="1807384"/>
                    <a:pt x="3775884" y="1841500"/>
                    <a:pt x="3733800" y="1841500"/>
                  </a:cubicBezTo>
                  <a:lnTo>
                    <a:pt x="76200" y="1841500"/>
                  </a:lnTo>
                  <a:cubicBezTo>
                    <a:pt x="34116" y="1841500"/>
                    <a:pt x="0" y="1807384"/>
                    <a:pt x="0" y="176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8FC"/>
            </a:solidFill>
            <a:ln cap="sq">
              <a:noFill/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9525"/>
              <a:ext cx="38100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Limits &amp; Charges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 rot="0">
            <a:off x="14535150" y="6858000"/>
            <a:ext cx="2857500" cy="1381125"/>
            <a:chOff x="0" y="0"/>
            <a:chExt cx="3810000" cy="18415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810000" cy="1841500"/>
            </a:xfrm>
            <a:custGeom>
              <a:avLst/>
              <a:gdLst/>
              <a:ahLst/>
              <a:cxnLst/>
              <a:rect l="l" t="t" r="r" b="b"/>
              <a:pathLst>
                <a:path w="3810000" h="18415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765300"/>
                  </a:lnTo>
                  <a:cubicBezTo>
                    <a:pt x="3810000" y="1807384"/>
                    <a:pt x="3775884" y="1841500"/>
                    <a:pt x="3733800" y="1841500"/>
                  </a:cubicBezTo>
                  <a:lnTo>
                    <a:pt x="76200" y="1841500"/>
                  </a:lnTo>
                  <a:cubicBezTo>
                    <a:pt x="34116" y="1841500"/>
                    <a:pt x="0" y="1807384"/>
                    <a:pt x="0" y="176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8FC"/>
            </a:solidFill>
            <a:ln cap="sq">
              <a:noFill/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9525"/>
              <a:ext cx="38100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Help Center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5247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5"/>
              </a:lnSpc>
            </a:pPr>
            <a:r>
              <a:rPr lang="en-US" sz="4350" b="1">
                <a:solidFill>
                  <a:srgbClr val="10233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Personalized Transaction-Based Quick Features</a:t>
            </a:r>
            <a:endParaRPr lang="en-US" sz="4350" b="1">
              <a:solidFill>
                <a:srgbClr val="10233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47750" y="1381125"/>
            <a:ext cx="14287500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875">
                <a:solidFill>
                  <a:srgbClr val="5F7189"/>
                </a:solidFill>
                <a:latin typeface="DM Sans"/>
                <a:ea typeface="DM Sans"/>
                <a:cs typeface="DM Sans"/>
                <a:sym typeface="DM Sans"/>
              </a:rPr>
              <a:t>Useful shortcuts shaped by recent behavior—transparent, editable, and never intrusive.</a:t>
            </a:r>
            <a:endParaRPr lang="en-US" sz="1875">
              <a:solidFill>
                <a:srgbClr val="5F718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1238250" y="2381250"/>
            <a:ext cx="5905500" cy="6667500"/>
            <a:chOff x="0" y="0"/>
            <a:chExt cx="7874000" cy="889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874000" cy="8890000"/>
            </a:xfrm>
            <a:custGeom>
              <a:avLst/>
              <a:gdLst/>
              <a:ahLst/>
              <a:cxnLst/>
              <a:rect l="l" t="t" r="r" b="b"/>
              <a:pathLst>
                <a:path w="7874000" h="8890000">
                  <a:moveTo>
                    <a:pt x="0" y="0"/>
                  </a:moveTo>
                  <a:lnTo>
                    <a:pt x="7874000" y="0"/>
                  </a:lnTo>
                  <a:lnTo>
                    <a:pt x="78740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071B3A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874000" cy="892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1504950" y="2667000"/>
            <a:ext cx="5372100" cy="6096000"/>
            <a:chOff x="0" y="0"/>
            <a:chExt cx="7162800" cy="8128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162800" cy="8128000"/>
            </a:xfrm>
            <a:custGeom>
              <a:avLst/>
              <a:gdLst/>
              <a:ahLst/>
              <a:cxnLst/>
              <a:rect l="l" t="t" r="r" b="b"/>
              <a:pathLst>
                <a:path w="7162800" h="8128000">
                  <a:moveTo>
                    <a:pt x="0" y="0"/>
                  </a:moveTo>
                  <a:lnTo>
                    <a:pt x="7162800" y="0"/>
                  </a:lnTo>
                  <a:lnTo>
                    <a:pt x="7162800" y="8128000"/>
                  </a:lnTo>
                  <a:lnTo>
                    <a:pt x="0" y="812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162800" cy="816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905000" y="3133725"/>
            <a:ext cx="447675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700" b="1">
                <a:solidFill>
                  <a:srgbClr val="10233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Quick for you</a:t>
            </a:r>
            <a:endParaRPr lang="en-US" sz="2700" b="1">
              <a:solidFill>
                <a:srgbClr val="10233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905000" y="3600450"/>
            <a:ext cx="4476750" cy="263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5"/>
              </a:lnSpc>
            </a:pPr>
            <a:r>
              <a:rPr lang="en-US" sz="1650">
                <a:solidFill>
                  <a:srgbClr val="5F7189"/>
                </a:solidFill>
                <a:latin typeface="DM Sans"/>
                <a:ea typeface="DM Sans"/>
                <a:cs typeface="DM Sans"/>
                <a:sym typeface="DM Sans"/>
              </a:rPr>
              <a:t>Based on recent activity</a:t>
            </a:r>
            <a:endParaRPr lang="en-US" sz="1650">
              <a:solidFill>
                <a:srgbClr val="5F718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1905000" y="4476750"/>
            <a:ext cx="4572000" cy="876300"/>
            <a:chOff x="0" y="0"/>
            <a:chExt cx="6096000" cy="1168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096000" cy="1168400"/>
            </a:xfrm>
            <a:custGeom>
              <a:avLst/>
              <a:gdLst/>
              <a:ahLst/>
              <a:cxnLst/>
              <a:rect l="l" t="t" r="r" b="b"/>
              <a:pathLst>
                <a:path w="6096000" h="1168400">
                  <a:moveTo>
                    <a:pt x="47625" y="0"/>
                  </a:moveTo>
                  <a:lnTo>
                    <a:pt x="6048375" y="0"/>
                  </a:lnTo>
                  <a:cubicBezTo>
                    <a:pt x="6074678" y="0"/>
                    <a:pt x="6096000" y="21322"/>
                    <a:pt x="6096000" y="47625"/>
                  </a:cubicBezTo>
                  <a:lnTo>
                    <a:pt x="6096000" y="1120775"/>
                  </a:lnTo>
                  <a:cubicBezTo>
                    <a:pt x="6096000" y="1147078"/>
                    <a:pt x="6074678" y="1168400"/>
                    <a:pt x="6048375" y="1168400"/>
                  </a:cubicBezTo>
                  <a:lnTo>
                    <a:pt x="47625" y="1168400"/>
                  </a:lnTo>
                  <a:cubicBezTo>
                    <a:pt x="21322" y="1168400"/>
                    <a:pt x="0" y="1147078"/>
                    <a:pt x="0" y="112077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0B5CFF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6096000" cy="1158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Repeat electricity bill</a:t>
              </a:r>
              <a:endParaRPr lang="en-US" sz="18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1905000" y="5667375"/>
            <a:ext cx="4572000" cy="876300"/>
            <a:chOff x="0" y="0"/>
            <a:chExt cx="6096000" cy="1168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096000" cy="1168400"/>
            </a:xfrm>
            <a:custGeom>
              <a:avLst/>
              <a:gdLst/>
              <a:ahLst/>
              <a:cxnLst/>
              <a:rect l="l" t="t" r="r" b="b"/>
              <a:pathLst>
                <a:path w="6096000" h="1168400">
                  <a:moveTo>
                    <a:pt x="47625" y="0"/>
                  </a:moveTo>
                  <a:lnTo>
                    <a:pt x="6048375" y="0"/>
                  </a:lnTo>
                  <a:cubicBezTo>
                    <a:pt x="6074678" y="0"/>
                    <a:pt x="6096000" y="21322"/>
                    <a:pt x="6096000" y="47625"/>
                  </a:cubicBezTo>
                  <a:lnTo>
                    <a:pt x="6096000" y="1120775"/>
                  </a:lnTo>
                  <a:cubicBezTo>
                    <a:pt x="6096000" y="1147078"/>
                    <a:pt x="6074678" y="1168400"/>
                    <a:pt x="6048375" y="1168400"/>
                  </a:cubicBezTo>
                  <a:lnTo>
                    <a:pt x="47625" y="1168400"/>
                  </a:lnTo>
                  <a:cubicBezTo>
                    <a:pt x="21322" y="1168400"/>
                    <a:pt x="0" y="1147078"/>
                    <a:pt x="0" y="112077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DCECFF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6096000" cy="1158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Send to Farhan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1905000" y="6858000"/>
            <a:ext cx="4572000" cy="876300"/>
            <a:chOff x="0" y="0"/>
            <a:chExt cx="6096000" cy="1168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096000" cy="1168400"/>
            </a:xfrm>
            <a:custGeom>
              <a:avLst/>
              <a:gdLst/>
              <a:ahLst/>
              <a:cxnLst/>
              <a:rect l="l" t="t" r="r" b="b"/>
              <a:pathLst>
                <a:path w="6096000" h="1168400">
                  <a:moveTo>
                    <a:pt x="47625" y="0"/>
                  </a:moveTo>
                  <a:lnTo>
                    <a:pt x="6048375" y="0"/>
                  </a:lnTo>
                  <a:cubicBezTo>
                    <a:pt x="6074678" y="0"/>
                    <a:pt x="6096000" y="21322"/>
                    <a:pt x="6096000" y="47625"/>
                  </a:cubicBezTo>
                  <a:lnTo>
                    <a:pt x="6096000" y="1120775"/>
                  </a:lnTo>
                  <a:cubicBezTo>
                    <a:pt x="6096000" y="1147078"/>
                    <a:pt x="6074678" y="1168400"/>
                    <a:pt x="6048375" y="1168400"/>
                  </a:cubicBezTo>
                  <a:lnTo>
                    <a:pt x="47625" y="1168400"/>
                  </a:lnTo>
                  <a:cubicBezTo>
                    <a:pt x="21322" y="1168400"/>
                    <a:pt x="0" y="1147078"/>
                    <a:pt x="0" y="112077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DCECFF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6096000" cy="1158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0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Pay internet bill</a:t>
              </a:r>
              <a:endParaRPr lang="en-US" sz="1800" b="1">
                <a:solidFill>
                  <a:srgbClr val="10233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048750" y="3552825"/>
            <a:ext cx="7239000" cy="1312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0"/>
              </a:lnSpc>
            </a:pPr>
            <a:r>
              <a:rPr lang="en-US" sz="4875" b="1">
                <a:solidFill>
                  <a:srgbClr val="10233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Less searching.</a:t>
            </a:r>
            <a:endParaRPr lang="en-US" sz="4875" b="1">
              <a:solidFill>
                <a:srgbClr val="10233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5120"/>
              </a:lnSpc>
            </a:pPr>
            <a:r>
              <a:rPr lang="en-US" sz="4875" b="1">
                <a:solidFill>
                  <a:srgbClr val="10233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Fewer repeated steps.</a:t>
            </a:r>
            <a:endParaRPr lang="en-US" sz="4875" b="1">
              <a:solidFill>
                <a:srgbClr val="10233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048750" y="5772150"/>
            <a:ext cx="6667500" cy="1111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2175">
                <a:solidFill>
                  <a:srgbClr val="10233F"/>
                </a:solidFill>
                <a:latin typeface="DM Sans"/>
                <a:ea typeface="DM Sans"/>
                <a:cs typeface="DM Sans"/>
                <a:sym typeface="DM Sans"/>
              </a:rPr>
              <a:t>Favorite recipients, recent billers, and repeat payments surface where they are easiest to act on. Users retain control over pinned actions.</a:t>
            </a:r>
            <a:endParaRPr lang="en-US" sz="2175">
              <a:solidFill>
                <a:srgbClr val="10233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1662</Words>
  <Application>WPS Presentation</Application>
  <PresentationFormat>On-screen Show (4:3)</PresentationFormat>
  <Paragraphs>123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DM Sans Bold</vt:lpstr>
      <vt:lpstr>Montserrat Bold</vt:lpstr>
      <vt:lpstr>DM Sans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BrainPay 23 Concept Review</dc:title>
  <dc:creator/>
  <cp:lastModifiedBy>Iftikharul Fahad</cp:lastModifiedBy>
  <cp:revision>5</cp:revision>
  <dcterms:created xsi:type="dcterms:W3CDTF">2006-08-16T00:00:00Z</dcterms:created>
  <dcterms:modified xsi:type="dcterms:W3CDTF">2026-10-27T07:41:01Z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A83B234B6C5E4BB0A9B1F0AA085410AE_12</vt:lpwstr>
  </property>
</Properties>
</file>